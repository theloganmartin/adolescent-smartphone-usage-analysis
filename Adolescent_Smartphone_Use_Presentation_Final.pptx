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115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Imagine two teenagers. You know how much they sleep, how often they check their phones, and how they are doing in school. Could you tell which one spends more time on their phone? That is the question I set out to investigate. I expected to find some useful patterns. What I discovered was more complicated.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Screen time comes up in conversations among families, schools, and people who work with teenagers. We may assume that a teen who checks their phone constantly, sleeps less, or struggles in school is also a heavy phone user. But are those assumptions supported by the information we have? Understanding that matters before we make decisions or give advice.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worked with a dataset of 3,000 adolescent records. To compare usage patterns, I divided them into three groups: four hours or less, more than four through six hours, and more than six hours a day. The groups were fairly balanced. These boundaries are choices made for this study, not official recommendations for healthy screen time.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Instead of using daily screen time to predict itself, I set that measure aside and examined other information: phone-checking frequency, time spent on activities, sleep, exercise, school performance, family relationships, and demographics. I tried three different ways of looking for patterns. I developed each approach using most of the records and then checked how well it worked on 600 records set aside for testing.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was the surprising result. The best of the three approaches correctly identified a teenager’s usage group about 37 percent of the time. To put that into perspective, simply calling everyone a moderate user would be correct about 39 percent of the time, because moderate users were the largest group. So the more complicated approach did not even improve on that simple guess in overall accuracy. That is an important result, not something to hide.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When I looked at the errors, a clear pattern emerged. About 65 percent of moderate users were identified correctly, but only about 19 percent of low users and 19 percent of high users. The approach tended to label teenagers as moderate users even when they belonged in the low or high group. That means it was especially poor at distinguishing the extremes</a:t>
            </a:r>
            <a:r>
              <a:rPr lang="en-US" dirty="0"/>
              <a:t> </a:t>
            </a:r>
            <a:r>
              <a:rPr dirty="0"/>
              <a:t>the groups we might most want to understand.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also examined which characteristics the best approach relied on most. Phone-checking frequency ranked first, followed closely by sleep hours and academic performance. Time spent on social media and gaming also appeared near the top. But the differences between these rankings were small, and the overall predictions were weak. So these are clues about what the approach</a:t>
            </a:r>
            <a:r>
              <a:rPr lang="en-US" dirty="0"/>
              <a:t>. N</a:t>
            </a:r>
            <a:r>
              <a:rPr dirty="0"/>
              <a:t>ot proof that these habits cause heavy phone use or reliably reveal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does this mean for parents, educators, or youth-serving professionals? First, we should avoid judging how much a teen uses their phone based on a single behavior, such as sleep or grades. Second, we need consistent definitions and measures: in this dataset, the reported time spent on three specific activities was almost unrelated to reported daily phone hours. That raises a question about measurement, although it does not tell us the cause. Third, future work should consider what teens do on their phones, when they use them, and why. This study has limitations, including its particular dataset and the group boundaries I chose.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let me return to the question I began with: if you knew a teenager’s everyday habits, could you tell how much they use their phone? Based on these data, not reliably. The bigger lesson is that assumptions about screen time need to be tested</a:t>
            </a:r>
            <a:r>
              <a:rPr lang="en-US" dirty="0"/>
              <a:t> </a:t>
            </a:r>
            <a:r>
              <a:rPr dirty="0"/>
              <a:t>and sometimes the most useful result is learning what the available information cannot tell us.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58368"/>
            <a:ext cx="10058400" cy="411480"/>
          </a:xfrm>
          <a:prstGeom prst="rect">
            <a:avLst/>
          </a:prstGeom>
          <a:noFill/>
        </p:spPr>
        <p:txBody>
          <a:bodyPr wrap="square" lIns="18288" tIns="18288" rIns="18288" bIns="18288">
            <a:spAutoFit/>
          </a:bodyPr>
          <a:lstStyle/>
          <a:p>
            <a:pPr>
              <a:lnSpc>
                <a:spcPct val="110000"/>
              </a:lnSpc>
              <a:spcAft>
                <a:spcPts val="400"/>
              </a:spcAft>
              <a:defRPr sz="1500" b="1">
                <a:solidFill>
                  <a:srgbClr val="A8D9DF"/>
                </a:solidFill>
                <a:latin typeface="Aptos"/>
              </a:defRPr>
            </a:pPr>
            <a:r>
              <a:t>A QUESTION ABOUT TEENAGERS &amp; TECHNOLOGY</a:t>
            </a:r>
          </a:p>
        </p:txBody>
      </p:sp>
      <p:sp>
        <p:nvSpPr>
          <p:cNvPr id="5" name="TextBox 4"/>
          <p:cNvSpPr txBox="1"/>
          <p:nvPr/>
        </p:nvSpPr>
        <p:spPr>
          <a:xfrm>
            <a:off x="822960" y="1417320"/>
            <a:ext cx="10607040" cy="2293961"/>
          </a:xfrm>
          <a:prstGeom prst="rect">
            <a:avLst/>
          </a:prstGeom>
          <a:noFill/>
        </p:spPr>
        <p:txBody>
          <a:bodyPr wrap="square" lIns="18288" tIns="18288" rIns="18288" bIns="18288">
            <a:spAutoFit/>
          </a:bodyPr>
          <a:lstStyle/>
          <a:p>
            <a:pPr>
              <a:lnSpc>
                <a:spcPct val="110000"/>
              </a:lnSpc>
              <a:spcAft>
                <a:spcPts val="400"/>
              </a:spcAft>
              <a:defRPr sz="4300" b="1">
                <a:solidFill>
                  <a:srgbClr val="FFFFFF"/>
                </a:solidFill>
                <a:latin typeface="Aptos"/>
              </a:defRPr>
            </a:pPr>
            <a:r>
              <a:rPr dirty="0"/>
              <a:t>Can everyday habits reveal</a:t>
            </a:r>
          </a:p>
          <a:p>
            <a:pPr>
              <a:lnSpc>
                <a:spcPct val="110000"/>
              </a:lnSpc>
              <a:spcAft>
                <a:spcPts val="400"/>
              </a:spcAft>
              <a:defRPr sz="4300" b="1">
                <a:solidFill>
                  <a:srgbClr val="FFFFFF"/>
                </a:solidFill>
                <a:latin typeface="Aptos"/>
              </a:defRPr>
            </a:pPr>
            <a:r>
              <a:rPr dirty="0"/>
              <a:t>how much a</a:t>
            </a:r>
            <a:r>
              <a:rPr lang="en-US" dirty="0"/>
              <a:t>n adolescent</a:t>
            </a:r>
            <a:r>
              <a:rPr dirty="0"/>
              <a:t> uses</a:t>
            </a:r>
          </a:p>
          <a:p>
            <a:pPr>
              <a:lnSpc>
                <a:spcPct val="110000"/>
              </a:lnSpc>
              <a:spcAft>
                <a:spcPts val="400"/>
              </a:spcAft>
              <a:defRPr sz="4300" b="1">
                <a:solidFill>
                  <a:srgbClr val="FFFFFF"/>
                </a:solidFill>
                <a:latin typeface="Aptos"/>
              </a:defRPr>
            </a:pPr>
            <a:r>
              <a:rPr dirty="0"/>
              <a:t>their phone?</a:t>
            </a:r>
          </a:p>
        </p:txBody>
      </p:sp>
      <p:sp>
        <p:nvSpPr>
          <p:cNvPr id="6" name="Rectangle 5"/>
          <p:cNvSpPr/>
          <p:nvPr/>
        </p:nvSpPr>
        <p:spPr>
          <a:xfrm>
            <a:off x="868680" y="4983480"/>
            <a:ext cx="8138160" cy="41148"/>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257800"/>
            <a:ext cx="9144000" cy="457200"/>
          </a:xfrm>
          <a:prstGeom prst="rect">
            <a:avLst/>
          </a:prstGeom>
          <a:noFill/>
        </p:spPr>
        <p:txBody>
          <a:bodyPr wrap="square" lIns="18288" tIns="18288" rIns="18288" bIns="18288">
            <a:spAutoFit/>
          </a:bodyPr>
          <a:lstStyle/>
          <a:p>
            <a:pPr>
              <a:lnSpc>
                <a:spcPct val="110000"/>
              </a:lnSpc>
              <a:spcAft>
                <a:spcPts val="400"/>
              </a:spcAft>
              <a:defRPr sz="2200" b="0">
                <a:solidFill>
                  <a:srgbClr val="DDEAF0"/>
                </a:solidFill>
                <a:latin typeface="Aptos"/>
              </a:defRPr>
            </a:pPr>
            <a:r>
              <a:t>An investigation of 3,000 adolescents</a:t>
            </a:r>
          </a:p>
        </p:txBody>
      </p:sp>
      <p:sp>
        <p:nvSpPr>
          <p:cNvPr id="8" name="TextBox 7"/>
          <p:cNvSpPr txBox="1"/>
          <p:nvPr/>
        </p:nvSpPr>
        <p:spPr>
          <a:xfrm>
            <a:off x="868680" y="6172200"/>
            <a:ext cx="8229600" cy="274320"/>
          </a:xfrm>
          <a:prstGeom prst="rect">
            <a:avLst/>
          </a:prstGeom>
          <a:noFill/>
        </p:spPr>
        <p:txBody>
          <a:bodyPr wrap="square" lIns="18288" tIns="18288" rIns="18288" bIns="18288">
            <a:spAutoFit/>
          </a:bodyPr>
          <a:lstStyle/>
          <a:p>
            <a:pPr>
              <a:lnSpc>
                <a:spcPct val="110000"/>
              </a:lnSpc>
              <a:spcAft>
                <a:spcPts val="400"/>
              </a:spcAft>
              <a:defRPr sz="1200" b="0">
                <a:solidFill>
                  <a:srgbClr val="B9CCD7"/>
                </a:solidFill>
                <a:latin typeface="Aptos"/>
              </a:defRPr>
            </a:pPr>
            <a:r>
              <a:t>PRACTICUM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WHY IT MATTERS</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We often make assumptions about screen time</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Parents and educators see habits—but not always the full picture.</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02 / 09</a:t>
            </a:r>
          </a:p>
        </p:txBody>
      </p:sp>
      <p:sp>
        <p:nvSpPr>
          <p:cNvPr id="10" name="Rounded Rectangle 9"/>
          <p:cNvSpPr/>
          <p:nvPr/>
        </p:nvSpPr>
        <p:spPr>
          <a:xfrm>
            <a:off x="822960" y="2743200"/>
            <a:ext cx="3456432"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2743200"/>
            <a:ext cx="3456432" cy="109728"/>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182112"/>
            <a:ext cx="2880360" cy="502920"/>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Sleep</a:t>
            </a:r>
          </a:p>
        </p:txBody>
      </p:sp>
      <p:sp>
        <p:nvSpPr>
          <p:cNvPr id="13" name="TextBox 12"/>
          <p:cNvSpPr txBox="1"/>
          <p:nvPr/>
        </p:nvSpPr>
        <p:spPr>
          <a:xfrm>
            <a:off x="1069848" y="3886200"/>
            <a:ext cx="2907792" cy="96012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Does a different sleep schedule suggest heavier use?</a:t>
            </a:r>
          </a:p>
        </p:txBody>
      </p:sp>
      <p:sp>
        <p:nvSpPr>
          <p:cNvPr id="14" name="Rounded Rectangle 13"/>
          <p:cNvSpPr/>
          <p:nvPr/>
        </p:nvSpPr>
        <p:spPr>
          <a:xfrm>
            <a:off x="4599432" y="2743200"/>
            <a:ext cx="3456432"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99432" y="2743200"/>
            <a:ext cx="3456432" cy="109728"/>
          </a:xfrm>
          <a:prstGeom prst="rect">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46320" y="3182112"/>
            <a:ext cx="2880360" cy="502920"/>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School</a:t>
            </a:r>
          </a:p>
        </p:txBody>
      </p:sp>
      <p:sp>
        <p:nvSpPr>
          <p:cNvPr id="17" name="TextBox 16"/>
          <p:cNvSpPr txBox="1"/>
          <p:nvPr/>
        </p:nvSpPr>
        <p:spPr>
          <a:xfrm>
            <a:off x="4846320" y="3886200"/>
            <a:ext cx="2907792" cy="96012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Can academic performance tell us anything?</a:t>
            </a:r>
          </a:p>
        </p:txBody>
      </p:sp>
      <p:sp>
        <p:nvSpPr>
          <p:cNvPr id="18" name="Rounded Rectangle 17"/>
          <p:cNvSpPr/>
          <p:nvPr/>
        </p:nvSpPr>
        <p:spPr>
          <a:xfrm>
            <a:off x="8375904" y="2743200"/>
            <a:ext cx="3456432"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75904" y="2743200"/>
            <a:ext cx="3456432" cy="109728"/>
          </a:xfrm>
          <a:prstGeom prst="rect">
            <a:avLst/>
          </a:prstGeom>
          <a:solidFill>
            <a:srgbClr val="D89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22792" y="3182112"/>
            <a:ext cx="2880360" cy="502920"/>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Daily habits</a:t>
            </a:r>
          </a:p>
        </p:txBody>
      </p:sp>
      <p:sp>
        <p:nvSpPr>
          <p:cNvPr id="21" name="TextBox 20"/>
          <p:cNvSpPr txBox="1"/>
          <p:nvPr/>
        </p:nvSpPr>
        <p:spPr>
          <a:xfrm>
            <a:off x="8622792" y="3886200"/>
            <a:ext cx="2907792" cy="96012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Do phone checks and activities reveal usage levels?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THE INVESTIGATION</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3,000 teens. Three usage groups.</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Daily smartphone hours were used only to define the groups—not to predict them.</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03 / 09</a:t>
            </a:r>
          </a:p>
        </p:txBody>
      </p:sp>
      <p:pic>
        <p:nvPicPr>
          <p:cNvPr id="10" name="Picture 9" descr="usage_groups_slide.png"/>
          <p:cNvPicPr>
            <a:picLocks noChangeAspect="1"/>
          </p:cNvPicPr>
          <p:nvPr/>
        </p:nvPicPr>
        <p:blipFill>
          <a:blip r:embed="rId3"/>
          <a:stretch>
            <a:fillRect/>
          </a:stretch>
        </p:blipFill>
        <p:spPr>
          <a:xfrm>
            <a:off x="1005840" y="2423160"/>
            <a:ext cx="10149840" cy="3401568"/>
          </a:xfrm>
          <a:prstGeom prst="rect">
            <a:avLst/>
          </a:prstGeom>
        </p:spPr>
      </p:pic>
      <p:sp>
        <p:nvSpPr>
          <p:cNvPr id="11" name="TextBox 10"/>
          <p:cNvSpPr txBox="1"/>
          <p:nvPr/>
        </p:nvSpPr>
        <p:spPr>
          <a:xfrm>
            <a:off x="960120" y="5989320"/>
            <a:ext cx="10058400" cy="310896"/>
          </a:xfrm>
          <a:prstGeom prst="rect">
            <a:avLst/>
          </a:prstGeom>
          <a:noFill/>
        </p:spPr>
        <p:txBody>
          <a:bodyPr wrap="square">
            <a:spAutoFit/>
          </a:bodyPr>
          <a:lstStyle/>
          <a:p>
            <a:r>
              <a:rPr sz="1200" b="0">
                <a:solidFill>
                  <a:srgbClr val="4D6472"/>
                </a:solidFill>
              </a:rPr>
              <a:t>Groups created for this study; these are not health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HOW I APPROACHED IT</a:t>
            </a:r>
          </a:p>
        </p:txBody>
      </p:sp>
      <p:sp>
        <p:nvSpPr>
          <p:cNvPr id="5" name="TextBox 4"/>
          <p:cNvSpPr txBox="1"/>
          <p:nvPr/>
        </p:nvSpPr>
        <p:spPr>
          <a:xfrm>
            <a:off x="685800" y="859536"/>
            <a:ext cx="10789920" cy="556884"/>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rPr lang="en-US" dirty="0"/>
              <a:t>Can a Computer Learn to Recognize Smart-phone Patterns</a:t>
            </a:r>
            <a:endParaRPr dirty="0"/>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Could other information help us recognize each group?</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04 / 09</a:t>
            </a:r>
          </a:p>
        </p:txBody>
      </p:sp>
      <p:sp>
        <p:nvSpPr>
          <p:cNvPr id="10" name="Rounded Rectangle 9"/>
          <p:cNvSpPr/>
          <p:nvPr/>
        </p:nvSpPr>
        <p:spPr>
          <a:xfrm>
            <a:off x="795528" y="2514600"/>
            <a:ext cx="5349240" cy="12435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78408" y="2761488"/>
            <a:ext cx="109728" cy="722376"/>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52728" y="2715768"/>
            <a:ext cx="4480560" cy="347472"/>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PHONE HABITS</a:t>
            </a:r>
          </a:p>
        </p:txBody>
      </p:sp>
      <p:sp>
        <p:nvSpPr>
          <p:cNvPr id="13" name="TextBox 12"/>
          <p:cNvSpPr txBox="1"/>
          <p:nvPr/>
        </p:nvSpPr>
        <p:spPr>
          <a:xfrm>
            <a:off x="1252728" y="3136392"/>
            <a:ext cx="4526280" cy="420624"/>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Checking frequency, apps, activities</a:t>
            </a:r>
          </a:p>
        </p:txBody>
      </p:sp>
      <p:sp>
        <p:nvSpPr>
          <p:cNvPr id="14" name="Rounded Rectangle 13"/>
          <p:cNvSpPr/>
          <p:nvPr/>
        </p:nvSpPr>
        <p:spPr>
          <a:xfrm>
            <a:off x="6483096" y="2514600"/>
            <a:ext cx="5349240" cy="12435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5976" y="2761488"/>
            <a:ext cx="109728" cy="722376"/>
          </a:xfrm>
          <a:prstGeom prst="rect">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0296" y="2715768"/>
            <a:ext cx="4480560" cy="347472"/>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LIFESTYLE</a:t>
            </a:r>
          </a:p>
        </p:txBody>
      </p:sp>
      <p:sp>
        <p:nvSpPr>
          <p:cNvPr id="17" name="TextBox 16"/>
          <p:cNvSpPr txBox="1"/>
          <p:nvPr/>
        </p:nvSpPr>
        <p:spPr>
          <a:xfrm>
            <a:off x="6940296" y="3136392"/>
            <a:ext cx="4526280" cy="420624"/>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Sleep, exercise, social interactions</a:t>
            </a:r>
          </a:p>
        </p:txBody>
      </p:sp>
      <p:sp>
        <p:nvSpPr>
          <p:cNvPr id="18" name="Rounded Rectangle 17"/>
          <p:cNvSpPr/>
          <p:nvPr/>
        </p:nvSpPr>
        <p:spPr>
          <a:xfrm>
            <a:off x="795528" y="4023360"/>
            <a:ext cx="5349240" cy="12435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78408" y="4270248"/>
            <a:ext cx="109728" cy="722376"/>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52728" y="4224528"/>
            <a:ext cx="4480560" cy="347472"/>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SCHOOL &amp; FAMILY</a:t>
            </a:r>
          </a:p>
        </p:txBody>
      </p:sp>
      <p:sp>
        <p:nvSpPr>
          <p:cNvPr id="21" name="TextBox 20"/>
          <p:cNvSpPr txBox="1"/>
          <p:nvPr/>
        </p:nvSpPr>
        <p:spPr>
          <a:xfrm>
            <a:off x="1252728" y="4645152"/>
            <a:ext cx="4526280" cy="420624"/>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Performance, communication, parental controls</a:t>
            </a:r>
          </a:p>
        </p:txBody>
      </p:sp>
      <p:sp>
        <p:nvSpPr>
          <p:cNvPr id="22" name="Rounded Rectangle 21"/>
          <p:cNvSpPr/>
          <p:nvPr/>
        </p:nvSpPr>
        <p:spPr>
          <a:xfrm>
            <a:off x="6483096" y="4023360"/>
            <a:ext cx="5349240" cy="12435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665976" y="4270248"/>
            <a:ext cx="109728" cy="722376"/>
          </a:xfrm>
          <a:prstGeom prst="rect">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0296" y="4224528"/>
            <a:ext cx="4480560" cy="347472"/>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BACKGROUND</a:t>
            </a:r>
          </a:p>
        </p:txBody>
      </p:sp>
      <p:sp>
        <p:nvSpPr>
          <p:cNvPr id="25" name="TextBox 24"/>
          <p:cNvSpPr txBox="1"/>
          <p:nvPr/>
        </p:nvSpPr>
        <p:spPr>
          <a:xfrm>
            <a:off x="6940296" y="4645152"/>
            <a:ext cx="4526280" cy="420624"/>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Age, gender, school grade</a:t>
            </a:r>
          </a:p>
        </p:txBody>
      </p:sp>
      <p:sp>
        <p:nvSpPr>
          <p:cNvPr id="26" name="TextBox 25"/>
          <p:cNvSpPr txBox="1"/>
          <p:nvPr/>
        </p:nvSpPr>
        <p:spPr>
          <a:xfrm>
            <a:off x="832104" y="5897880"/>
            <a:ext cx="10698480" cy="365760"/>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I compared three approaches and tested them on teenagers not used to develop them.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THE SURPRISE</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The best approach was right only 37% of the time</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It did not beat a very simple alternative.</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05 / 09</a:t>
            </a:r>
          </a:p>
        </p:txBody>
      </p:sp>
      <p:sp>
        <p:nvSpPr>
          <p:cNvPr id="10" name="Rounded Rectangle 9"/>
          <p:cNvSpPr/>
          <p:nvPr/>
        </p:nvSpPr>
        <p:spPr>
          <a:xfrm>
            <a:off x="914400" y="2468880"/>
            <a:ext cx="5212080" cy="2926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2788920"/>
            <a:ext cx="4480560" cy="365760"/>
          </a:xfrm>
          <a:prstGeom prst="rect">
            <a:avLst/>
          </a:prstGeom>
          <a:noFill/>
        </p:spPr>
        <p:txBody>
          <a:bodyPr wrap="square" lIns="18288" tIns="18288" rIns="18288" bIns="18288">
            <a:spAutoFit/>
          </a:bodyPr>
          <a:lstStyle/>
          <a:p>
            <a:pPr>
              <a:lnSpc>
                <a:spcPct val="110000"/>
              </a:lnSpc>
              <a:spcAft>
                <a:spcPts val="400"/>
              </a:spcAft>
              <a:defRPr sz="1600" b="1">
                <a:solidFill>
                  <a:srgbClr val="52677A"/>
                </a:solidFill>
                <a:latin typeface="Aptos"/>
              </a:defRPr>
            </a:pPr>
            <a:r>
              <a:t>BEST APPROACH</a:t>
            </a:r>
          </a:p>
        </p:txBody>
      </p:sp>
      <p:sp>
        <p:nvSpPr>
          <p:cNvPr id="12" name="TextBox 11"/>
          <p:cNvSpPr txBox="1"/>
          <p:nvPr/>
        </p:nvSpPr>
        <p:spPr>
          <a:xfrm>
            <a:off x="1234440" y="3273552"/>
            <a:ext cx="4389120" cy="960120"/>
          </a:xfrm>
          <a:prstGeom prst="rect">
            <a:avLst/>
          </a:prstGeom>
          <a:noFill/>
        </p:spPr>
        <p:txBody>
          <a:bodyPr wrap="square" lIns="18288" tIns="18288" rIns="18288" bIns="18288">
            <a:spAutoFit/>
          </a:bodyPr>
          <a:lstStyle/>
          <a:p>
            <a:pPr>
              <a:lnSpc>
                <a:spcPct val="110000"/>
              </a:lnSpc>
              <a:spcAft>
                <a:spcPts val="400"/>
              </a:spcAft>
              <a:defRPr sz="5800" b="1">
                <a:solidFill>
                  <a:srgbClr val="2E719B"/>
                </a:solidFill>
                <a:latin typeface="Aptos"/>
              </a:defRPr>
            </a:pPr>
            <a:r>
              <a:t>37%</a:t>
            </a:r>
          </a:p>
        </p:txBody>
      </p:sp>
      <p:sp>
        <p:nvSpPr>
          <p:cNvPr id="13" name="Rounded Rectangle 12"/>
          <p:cNvSpPr/>
          <p:nvPr/>
        </p:nvSpPr>
        <p:spPr>
          <a:xfrm>
            <a:off x="1243584" y="4443984"/>
            <a:ext cx="4434840" cy="182880"/>
          </a:xfrm>
          <a:prstGeom prst="roundRect">
            <a:avLst>
              <a:gd name="adj" fmla="val 12000"/>
            </a:avLst>
          </a:prstGeom>
          <a:solidFill>
            <a:srgbClr val="DCE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43584" y="4443984"/>
            <a:ext cx="1627586" cy="182880"/>
          </a:xfrm>
          <a:prstGeom prst="roundRect">
            <a:avLst>
              <a:gd name="adj" fmla="val 12000"/>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4800600"/>
            <a:ext cx="4572000" cy="393192"/>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Correctly identified usage group</a:t>
            </a:r>
          </a:p>
        </p:txBody>
      </p:sp>
      <p:sp>
        <p:nvSpPr>
          <p:cNvPr id="16" name="Rounded Rectangle 15"/>
          <p:cNvSpPr/>
          <p:nvPr/>
        </p:nvSpPr>
        <p:spPr>
          <a:xfrm>
            <a:off x="6583680" y="2468880"/>
            <a:ext cx="5212080" cy="2926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788920"/>
            <a:ext cx="4480560" cy="365760"/>
          </a:xfrm>
          <a:prstGeom prst="rect">
            <a:avLst/>
          </a:prstGeom>
          <a:noFill/>
        </p:spPr>
        <p:txBody>
          <a:bodyPr wrap="square" lIns="18288" tIns="18288" rIns="18288" bIns="18288">
            <a:spAutoFit/>
          </a:bodyPr>
          <a:lstStyle/>
          <a:p>
            <a:pPr>
              <a:lnSpc>
                <a:spcPct val="110000"/>
              </a:lnSpc>
              <a:spcAft>
                <a:spcPts val="400"/>
              </a:spcAft>
              <a:defRPr sz="1600" b="1">
                <a:solidFill>
                  <a:srgbClr val="52677A"/>
                </a:solidFill>
                <a:latin typeface="Aptos"/>
              </a:defRPr>
            </a:pPr>
            <a:r>
              <a:t>SIMPLE GUESS</a:t>
            </a:r>
          </a:p>
        </p:txBody>
      </p:sp>
      <p:sp>
        <p:nvSpPr>
          <p:cNvPr id="18" name="TextBox 17"/>
          <p:cNvSpPr txBox="1"/>
          <p:nvPr/>
        </p:nvSpPr>
        <p:spPr>
          <a:xfrm>
            <a:off x="6903720" y="3273552"/>
            <a:ext cx="4389120" cy="960120"/>
          </a:xfrm>
          <a:prstGeom prst="rect">
            <a:avLst/>
          </a:prstGeom>
          <a:noFill/>
        </p:spPr>
        <p:txBody>
          <a:bodyPr wrap="square" lIns="18288" tIns="18288" rIns="18288" bIns="18288">
            <a:spAutoFit/>
          </a:bodyPr>
          <a:lstStyle/>
          <a:p>
            <a:pPr>
              <a:lnSpc>
                <a:spcPct val="110000"/>
              </a:lnSpc>
              <a:spcAft>
                <a:spcPts val="400"/>
              </a:spcAft>
              <a:defRPr sz="5800" b="1">
                <a:solidFill>
                  <a:srgbClr val="3C9A9A"/>
                </a:solidFill>
                <a:latin typeface="Aptos"/>
              </a:defRPr>
            </a:pPr>
            <a:r>
              <a:t>39%</a:t>
            </a:r>
          </a:p>
        </p:txBody>
      </p:sp>
      <p:sp>
        <p:nvSpPr>
          <p:cNvPr id="19" name="Rounded Rectangle 18"/>
          <p:cNvSpPr/>
          <p:nvPr/>
        </p:nvSpPr>
        <p:spPr>
          <a:xfrm>
            <a:off x="6912864" y="4443984"/>
            <a:ext cx="4434840" cy="182880"/>
          </a:xfrm>
          <a:prstGeom prst="roundRect">
            <a:avLst>
              <a:gd name="adj" fmla="val 12000"/>
            </a:avLst>
          </a:prstGeom>
          <a:solidFill>
            <a:srgbClr val="DCE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912864" y="4443984"/>
            <a:ext cx="1729587" cy="182880"/>
          </a:xfrm>
          <a:prstGeom prst="roundRect">
            <a:avLst>
              <a:gd name="adj" fmla="val 12000"/>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03720" y="4800600"/>
            <a:ext cx="4572000" cy="393192"/>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Always choose the largest group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WHERE IT STRUGGLED</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The middle group was easier to recognize</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Low and high users were usually mistaken for moderate users.</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06 / 09</a:t>
            </a:r>
          </a:p>
        </p:txBody>
      </p:sp>
      <p:sp>
        <p:nvSpPr>
          <p:cNvPr id="10" name="TextBox 9"/>
          <p:cNvSpPr txBox="1"/>
          <p:nvPr/>
        </p:nvSpPr>
        <p:spPr>
          <a:xfrm>
            <a:off x="896112" y="2560320"/>
            <a:ext cx="1828800" cy="384048"/>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LOW</a:t>
            </a:r>
          </a:p>
        </p:txBody>
      </p:sp>
      <p:sp>
        <p:nvSpPr>
          <p:cNvPr id="11" name="Rounded Rectangle 10"/>
          <p:cNvSpPr/>
          <p:nvPr/>
        </p:nvSpPr>
        <p:spPr>
          <a:xfrm>
            <a:off x="2852928" y="2560320"/>
            <a:ext cx="7040880" cy="457200"/>
          </a:xfrm>
          <a:prstGeom prst="roundRect">
            <a:avLst>
              <a:gd name="adj" fmla="val 12000"/>
            </a:avLst>
          </a:prstGeom>
          <a:solidFill>
            <a:srgbClr val="DCE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52928" y="2560320"/>
            <a:ext cx="1344808" cy="457200"/>
          </a:xfrm>
          <a:prstGeom prst="roundRect">
            <a:avLst>
              <a:gd name="adj" fmla="val 12000"/>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95560" y="2523744"/>
            <a:ext cx="1188720" cy="475488"/>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19%</a:t>
            </a:r>
          </a:p>
        </p:txBody>
      </p:sp>
      <p:sp>
        <p:nvSpPr>
          <p:cNvPr id="14" name="TextBox 13"/>
          <p:cNvSpPr txBox="1"/>
          <p:nvPr/>
        </p:nvSpPr>
        <p:spPr>
          <a:xfrm>
            <a:off x="896112" y="3611879"/>
            <a:ext cx="1828800" cy="384048"/>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MODERATE</a:t>
            </a:r>
          </a:p>
        </p:txBody>
      </p:sp>
      <p:sp>
        <p:nvSpPr>
          <p:cNvPr id="15" name="Rounded Rectangle 14"/>
          <p:cNvSpPr/>
          <p:nvPr/>
        </p:nvSpPr>
        <p:spPr>
          <a:xfrm>
            <a:off x="2852928" y="3611879"/>
            <a:ext cx="7040880" cy="457200"/>
          </a:xfrm>
          <a:prstGeom prst="roundRect">
            <a:avLst>
              <a:gd name="adj" fmla="val 12000"/>
            </a:avLst>
          </a:prstGeom>
          <a:solidFill>
            <a:srgbClr val="DCE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852928" y="3611879"/>
            <a:ext cx="4541367" cy="457200"/>
          </a:xfrm>
          <a:prstGeom prst="roundRect">
            <a:avLst>
              <a:gd name="adj" fmla="val 12000"/>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95560" y="3575303"/>
            <a:ext cx="1188720" cy="475488"/>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64%</a:t>
            </a:r>
          </a:p>
        </p:txBody>
      </p:sp>
      <p:sp>
        <p:nvSpPr>
          <p:cNvPr id="18" name="TextBox 17"/>
          <p:cNvSpPr txBox="1"/>
          <p:nvPr/>
        </p:nvSpPr>
        <p:spPr>
          <a:xfrm>
            <a:off x="896112" y="4663440"/>
            <a:ext cx="1828800" cy="384048"/>
          </a:xfrm>
          <a:prstGeom prst="rect">
            <a:avLst/>
          </a:prstGeom>
          <a:noFill/>
        </p:spPr>
        <p:txBody>
          <a:bodyPr wrap="square" lIns="18288" tIns="18288" rIns="18288" bIns="18288">
            <a:spAutoFit/>
          </a:bodyPr>
          <a:lstStyle/>
          <a:p>
            <a:pPr>
              <a:lnSpc>
                <a:spcPct val="110000"/>
              </a:lnSpc>
              <a:spcAft>
                <a:spcPts val="400"/>
              </a:spcAft>
              <a:defRPr sz="1700" b="1">
                <a:solidFill>
                  <a:srgbClr val="172B43"/>
                </a:solidFill>
                <a:latin typeface="Aptos"/>
              </a:defRPr>
            </a:pPr>
            <a:r>
              <a:t>HIGH</a:t>
            </a:r>
          </a:p>
        </p:txBody>
      </p:sp>
      <p:sp>
        <p:nvSpPr>
          <p:cNvPr id="19" name="Rounded Rectangle 18"/>
          <p:cNvSpPr/>
          <p:nvPr/>
        </p:nvSpPr>
        <p:spPr>
          <a:xfrm>
            <a:off x="2852928" y="4663440"/>
            <a:ext cx="7040880" cy="457200"/>
          </a:xfrm>
          <a:prstGeom prst="roundRect">
            <a:avLst>
              <a:gd name="adj" fmla="val 12000"/>
            </a:avLst>
          </a:prstGeom>
          <a:solidFill>
            <a:srgbClr val="DCE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852928" y="4663440"/>
            <a:ext cx="1309603" cy="457200"/>
          </a:xfrm>
          <a:prstGeom prst="roundRect">
            <a:avLst>
              <a:gd name="adj" fmla="val 12000"/>
            </a:avLst>
          </a:prstGeom>
          <a:solidFill>
            <a:srgbClr val="D89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195560" y="4626864"/>
            <a:ext cx="1188720" cy="475488"/>
          </a:xfrm>
          <a:prstGeom prst="rect">
            <a:avLst/>
          </a:prstGeom>
          <a:noFill/>
        </p:spPr>
        <p:txBody>
          <a:bodyPr wrap="square" lIns="18288" tIns="18288" rIns="18288" bIns="18288">
            <a:spAutoFit/>
          </a:bodyPr>
          <a:lstStyle/>
          <a:p>
            <a:pPr>
              <a:lnSpc>
                <a:spcPct val="110000"/>
              </a:lnSpc>
              <a:spcAft>
                <a:spcPts val="400"/>
              </a:spcAft>
              <a:defRPr sz="2500" b="1">
                <a:solidFill>
                  <a:srgbClr val="172B43"/>
                </a:solidFill>
                <a:latin typeface="Aptos"/>
              </a:defRPr>
            </a:pPr>
            <a:r>
              <a:t>19%</a:t>
            </a:r>
          </a:p>
        </p:txBody>
      </p:sp>
      <p:sp>
        <p:nvSpPr>
          <p:cNvPr id="22" name="TextBox 21"/>
          <p:cNvSpPr txBox="1"/>
          <p:nvPr/>
        </p:nvSpPr>
        <p:spPr>
          <a:xfrm>
            <a:off x="2880360" y="5989320"/>
            <a:ext cx="7315200" cy="320040"/>
          </a:xfrm>
          <a:prstGeom prst="rect">
            <a:avLst/>
          </a:prstGeom>
          <a:noFill/>
        </p:spPr>
        <p:txBody>
          <a:bodyPr wrap="square" lIns="18288" tIns="18288" rIns="18288" bIns="18288">
            <a:spAutoFit/>
          </a:bodyPr>
          <a:lstStyle/>
          <a:p>
            <a:pPr>
              <a:lnSpc>
                <a:spcPct val="110000"/>
              </a:lnSpc>
              <a:spcAft>
                <a:spcPts val="400"/>
              </a:spcAft>
              <a:defRPr sz="1500" b="0">
                <a:solidFill>
                  <a:srgbClr val="52677A"/>
                </a:solidFill>
                <a:latin typeface="Aptos"/>
              </a:defRPr>
            </a:pPr>
            <a:r>
              <a:t>Percent of each group correctly identified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WHAT STOOD OUT</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Which everyday characteristics stood out?</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But none was a dependable way to identify usage levels.</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07 / 09</a:t>
            </a:r>
          </a:p>
        </p:txBody>
      </p:sp>
      <p:pic>
        <p:nvPicPr>
          <p:cNvPr id="10" name="Picture 9" descr="feature_importance_slide.png"/>
          <p:cNvPicPr>
            <a:picLocks noChangeAspect="1"/>
          </p:cNvPicPr>
          <p:nvPr/>
        </p:nvPicPr>
        <p:blipFill>
          <a:blip r:embed="rId3"/>
          <a:stretch>
            <a:fillRect/>
          </a:stretch>
        </p:blipFill>
        <p:spPr>
          <a:xfrm>
            <a:off x="987552" y="2350008"/>
            <a:ext cx="10177272" cy="3529584"/>
          </a:xfrm>
          <a:prstGeom prst="rect">
            <a:avLst/>
          </a:prstGeom>
        </p:spPr>
      </p:pic>
      <p:sp>
        <p:nvSpPr>
          <p:cNvPr id="11" name="TextBox 10"/>
          <p:cNvSpPr txBox="1"/>
          <p:nvPr/>
        </p:nvSpPr>
        <p:spPr>
          <a:xfrm>
            <a:off x="987552" y="5980176"/>
            <a:ext cx="10424160" cy="347472"/>
          </a:xfrm>
          <a:prstGeom prst="rect">
            <a:avLst/>
          </a:prstGeom>
          <a:noFill/>
        </p:spPr>
        <p:txBody>
          <a:bodyPr wrap="square">
            <a:spAutoFit/>
          </a:bodyPr>
          <a:lstStyle/>
          <a:p>
            <a:r>
              <a:rPr sz="1200" b="0">
                <a:solidFill>
                  <a:srgbClr val="4D6472"/>
                </a:solidFill>
              </a:rPr>
              <a:t>Rankings describe what the approach relied on—not reliable predictions or causes.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347472"/>
            <a:ext cx="10058400" cy="320040"/>
          </a:xfrm>
          <a:prstGeom prst="rect">
            <a:avLst/>
          </a:prstGeom>
          <a:noFill/>
        </p:spPr>
        <p:txBody>
          <a:bodyPr wrap="square" lIns="18288" tIns="18288" rIns="18288" bIns="18288">
            <a:spAutoFit/>
          </a:bodyPr>
          <a:lstStyle/>
          <a:p>
            <a:pPr>
              <a:lnSpc>
                <a:spcPct val="110000"/>
              </a:lnSpc>
              <a:spcAft>
                <a:spcPts val="400"/>
              </a:spcAft>
              <a:defRPr sz="1200" b="1">
                <a:solidFill>
                  <a:srgbClr val="2E719B"/>
                </a:solidFill>
                <a:latin typeface="Aptos"/>
              </a:defRPr>
            </a:pPr>
            <a:r>
              <a:t>WHAT WE SHOULD DO</a:t>
            </a:r>
          </a:p>
        </p:txBody>
      </p:sp>
      <p:sp>
        <p:nvSpPr>
          <p:cNvPr id="5" name="TextBox 4"/>
          <p:cNvSpPr txBox="1"/>
          <p:nvPr/>
        </p:nvSpPr>
        <p:spPr>
          <a:xfrm>
            <a:off x="685800" y="859536"/>
            <a:ext cx="10789920" cy="1005840"/>
          </a:xfrm>
          <a:prstGeom prst="rect">
            <a:avLst/>
          </a:prstGeom>
          <a:noFill/>
        </p:spPr>
        <p:txBody>
          <a:bodyPr wrap="square" lIns="18288" tIns="18288" rIns="18288" bIns="18288">
            <a:spAutoFit/>
          </a:bodyPr>
          <a:lstStyle/>
          <a:p>
            <a:pPr>
              <a:lnSpc>
                <a:spcPct val="110000"/>
              </a:lnSpc>
              <a:spcAft>
                <a:spcPts val="400"/>
              </a:spcAft>
              <a:defRPr sz="3200" b="1">
                <a:solidFill>
                  <a:srgbClr val="172B43"/>
                </a:solidFill>
                <a:latin typeface="Aptos"/>
              </a:defRPr>
            </a:pPr>
            <a:r>
              <a:t>Ask better questions—not make faster assumptions</a:t>
            </a:r>
          </a:p>
        </p:txBody>
      </p:sp>
      <p:sp>
        <p:nvSpPr>
          <p:cNvPr id="6" name="TextBox 5"/>
          <p:cNvSpPr txBox="1"/>
          <p:nvPr/>
        </p:nvSpPr>
        <p:spPr>
          <a:xfrm>
            <a:off x="713232" y="1783080"/>
            <a:ext cx="10698480" cy="685800"/>
          </a:xfrm>
          <a:prstGeom prst="rect">
            <a:avLst/>
          </a:prstGeom>
          <a:noFill/>
        </p:spPr>
        <p:txBody>
          <a:bodyPr wrap="square" lIns="18288" tIns="18288" rIns="18288" bIns="18288">
            <a:spAutoFit/>
          </a:bodyPr>
          <a:lstStyle/>
          <a:p>
            <a:pPr>
              <a:lnSpc>
                <a:spcPct val="110000"/>
              </a:lnSpc>
              <a:spcAft>
                <a:spcPts val="400"/>
              </a:spcAft>
              <a:defRPr sz="1700" b="0">
                <a:solidFill>
                  <a:srgbClr val="52677A"/>
                </a:solidFill>
                <a:latin typeface="Aptos"/>
              </a:defRPr>
            </a:pPr>
            <a:r>
              <a:t>The findings point toward more careful measurement and interpretation.</a:t>
            </a:r>
          </a:p>
        </p:txBody>
      </p:sp>
      <p:sp>
        <p:nvSpPr>
          <p:cNvPr id="7" name="Rectangle 6"/>
          <p:cNvSpPr/>
          <p:nvPr/>
        </p:nvSpPr>
        <p:spPr>
          <a:xfrm>
            <a:off x="685800" y="6492240"/>
            <a:ext cx="10789920" cy="13716"/>
          </a:xfrm>
          <a:prstGeom prst="rect">
            <a:avLst/>
          </a:prstGeom>
          <a:solidFill>
            <a:srgbClr val="D2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6556248"/>
            <a:ext cx="7315200" cy="173736"/>
          </a:xfrm>
          <a:prstGeom prst="rect">
            <a:avLst/>
          </a:prstGeom>
          <a:noFill/>
        </p:spPr>
        <p:txBody>
          <a:bodyPr wrap="square" lIns="18288" tIns="18288" rIns="18288" bIns="18288">
            <a:spAutoFit/>
          </a:bodyPr>
          <a:lstStyle/>
          <a:p>
            <a:pPr>
              <a:lnSpc>
                <a:spcPct val="110000"/>
              </a:lnSpc>
              <a:spcAft>
                <a:spcPts val="400"/>
              </a:spcAft>
              <a:defRPr sz="900" b="0">
                <a:solidFill>
                  <a:srgbClr val="52677A"/>
                </a:solidFill>
                <a:latin typeface="Aptos"/>
              </a:defRPr>
            </a:pPr>
            <a:r>
              <a:t>ADOLESCENT SMARTPHONE USE  •  PRACTICUM</a:t>
            </a:r>
          </a:p>
        </p:txBody>
      </p:sp>
      <p:sp>
        <p:nvSpPr>
          <p:cNvPr id="9" name="TextBox 8"/>
          <p:cNvSpPr txBox="1"/>
          <p:nvPr/>
        </p:nvSpPr>
        <p:spPr>
          <a:xfrm>
            <a:off x="10698480" y="6519672"/>
            <a:ext cx="731520" cy="210312"/>
          </a:xfrm>
          <a:prstGeom prst="rect">
            <a:avLst/>
          </a:prstGeom>
          <a:noFill/>
        </p:spPr>
        <p:txBody>
          <a:bodyPr wrap="square" lIns="18288" tIns="18288" rIns="18288" bIns="18288">
            <a:spAutoFit/>
          </a:bodyPr>
          <a:lstStyle/>
          <a:p>
            <a:pPr algn="r">
              <a:lnSpc>
                <a:spcPct val="110000"/>
              </a:lnSpc>
              <a:spcAft>
                <a:spcPts val="400"/>
              </a:spcAft>
              <a:defRPr sz="1000" b="0">
                <a:solidFill>
                  <a:srgbClr val="52677A"/>
                </a:solidFill>
                <a:latin typeface="Aptos"/>
              </a:defRPr>
            </a:pPr>
            <a:r>
              <a:t>08 / 09</a:t>
            </a:r>
          </a:p>
        </p:txBody>
      </p:sp>
      <p:sp>
        <p:nvSpPr>
          <p:cNvPr id="10" name="Rounded Rectangle 9"/>
          <p:cNvSpPr/>
          <p:nvPr/>
        </p:nvSpPr>
        <p:spPr>
          <a:xfrm>
            <a:off x="804672" y="2606040"/>
            <a:ext cx="3493008" cy="2788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33271" y="2953512"/>
            <a:ext cx="621792" cy="621792"/>
          </a:xfrm>
          <a:prstGeom prst="roundRect">
            <a:avLst>
              <a:gd name="adj" fmla="val 12000"/>
            </a:avLst>
          </a:prstGeom>
          <a:solidFill>
            <a:srgbClr val="2E71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97864" y="3072384"/>
            <a:ext cx="274320" cy="310896"/>
          </a:xfrm>
          <a:prstGeom prst="rect">
            <a:avLst/>
          </a:prstGeom>
          <a:noFill/>
        </p:spPr>
        <p:txBody>
          <a:bodyPr wrap="square" lIns="18288" tIns="18288" rIns="18288" bIns="18288">
            <a:spAutoFit/>
          </a:bodyPr>
          <a:lstStyle/>
          <a:p>
            <a:pPr algn="ctr">
              <a:lnSpc>
                <a:spcPct val="110000"/>
              </a:lnSpc>
              <a:spcAft>
                <a:spcPts val="400"/>
              </a:spcAft>
              <a:defRPr sz="1800" b="1">
                <a:solidFill>
                  <a:srgbClr val="FFFFFF"/>
                </a:solidFill>
                <a:latin typeface="Aptos"/>
              </a:defRPr>
            </a:pPr>
            <a:r>
              <a:t>1</a:t>
            </a:r>
          </a:p>
        </p:txBody>
      </p:sp>
      <p:sp>
        <p:nvSpPr>
          <p:cNvPr id="13" name="TextBox 12"/>
          <p:cNvSpPr txBox="1"/>
          <p:nvPr/>
        </p:nvSpPr>
        <p:spPr>
          <a:xfrm>
            <a:off x="1051560" y="3794760"/>
            <a:ext cx="2999232" cy="393192"/>
          </a:xfrm>
          <a:prstGeom prst="rect">
            <a:avLst/>
          </a:prstGeom>
          <a:noFill/>
        </p:spPr>
        <p:txBody>
          <a:bodyPr wrap="square" lIns="18288" tIns="18288" rIns="18288" bIns="18288">
            <a:spAutoFit/>
          </a:bodyPr>
          <a:lstStyle/>
          <a:p>
            <a:pPr>
              <a:lnSpc>
                <a:spcPct val="110000"/>
              </a:lnSpc>
              <a:spcAft>
                <a:spcPts val="400"/>
              </a:spcAft>
              <a:defRPr sz="2200" b="1">
                <a:solidFill>
                  <a:srgbClr val="172B43"/>
                </a:solidFill>
                <a:latin typeface="Aptos"/>
              </a:defRPr>
            </a:pPr>
            <a:r>
              <a:t>Avoid labels</a:t>
            </a:r>
          </a:p>
        </p:txBody>
      </p:sp>
      <p:sp>
        <p:nvSpPr>
          <p:cNvPr id="14" name="TextBox 13"/>
          <p:cNvSpPr txBox="1"/>
          <p:nvPr/>
        </p:nvSpPr>
        <p:spPr>
          <a:xfrm>
            <a:off x="1051560" y="4315968"/>
            <a:ext cx="2971800" cy="777240"/>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Do not infer a teen’s usage level from one habit.</a:t>
            </a:r>
          </a:p>
        </p:txBody>
      </p:sp>
      <p:sp>
        <p:nvSpPr>
          <p:cNvPr id="15" name="Rounded Rectangle 14"/>
          <p:cNvSpPr/>
          <p:nvPr/>
        </p:nvSpPr>
        <p:spPr>
          <a:xfrm>
            <a:off x="4626864" y="2606040"/>
            <a:ext cx="3493008" cy="2788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55464" y="2953512"/>
            <a:ext cx="621792" cy="621792"/>
          </a:xfrm>
          <a:prstGeom prst="roundRect">
            <a:avLst>
              <a:gd name="adj" fmla="val 12000"/>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0055" y="3072384"/>
            <a:ext cx="274320" cy="310896"/>
          </a:xfrm>
          <a:prstGeom prst="rect">
            <a:avLst/>
          </a:prstGeom>
          <a:noFill/>
        </p:spPr>
        <p:txBody>
          <a:bodyPr wrap="square" lIns="18288" tIns="18288" rIns="18288" bIns="18288">
            <a:spAutoFit/>
          </a:bodyPr>
          <a:lstStyle/>
          <a:p>
            <a:pPr algn="ctr">
              <a:lnSpc>
                <a:spcPct val="110000"/>
              </a:lnSpc>
              <a:spcAft>
                <a:spcPts val="400"/>
              </a:spcAft>
              <a:defRPr sz="1800" b="1">
                <a:solidFill>
                  <a:srgbClr val="FFFFFF"/>
                </a:solidFill>
                <a:latin typeface="Aptos"/>
              </a:defRPr>
            </a:pPr>
            <a:r>
              <a:t>2</a:t>
            </a:r>
          </a:p>
        </p:txBody>
      </p:sp>
      <p:sp>
        <p:nvSpPr>
          <p:cNvPr id="18" name="TextBox 17"/>
          <p:cNvSpPr txBox="1"/>
          <p:nvPr/>
        </p:nvSpPr>
        <p:spPr>
          <a:xfrm>
            <a:off x="4873752" y="3794760"/>
            <a:ext cx="2999232" cy="393192"/>
          </a:xfrm>
          <a:prstGeom prst="rect">
            <a:avLst/>
          </a:prstGeom>
          <a:noFill/>
        </p:spPr>
        <p:txBody>
          <a:bodyPr wrap="square" lIns="18288" tIns="18288" rIns="18288" bIns="18288">
            <a:spAutoFit/>
          </a:bodyPr>
          <a:lstStyle/>
          <a:p>
            <a:pPr>
              <a:lnSpc>
                <a:spcPct val="110000"/>
              </a:lnSpc>
              <a:spcAft>
                <a:spcPts val="400"/>
              </a:spcAft>
              <a:defRPr sz="2200" b="1">
                <a:solidFill>
                  <a:srgbClr val="172B43"/>
                </a:solidFill>
                <a:latin typeface="Aptos"/>
              </a:defRPr>
            </a:pPr>
            <a:r>
              <a:t>Measure consistently</a:t>
            </a:r>
          </a:p>
        </p:txBody>
      </p:sp>
      <p:sp>
        <p:nvSpPr>
          <p:cNvPr id="19" name="TextBox 18"/>
          <p:cNvSpPr txBox="1"/>
          <p:nvPr/>
        </p:nvSpPr>
        <p:spPr>
          <a:xfrm>
            <a:off x="4873752" y="4315968"/>
            <a:ext cx="2971800" cy="777240"/>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Clarify how daily use and specific activities are recorded.</a:t>
            </a:r>
          </a:p>
        </p:txBody>
      </p:sp>
      <p:sp>
        <p:nvSpPr>
          <p:cNvPr id="20" name="Rounded Rectangle 19"/>
          <p:cNvSpPr/>
          <p:nvPr/>
        </p:nvSpPr>
        <p:spPr>
          <a:xfrm>
            <a:off x="8449056" y="2606040"/>
            <a:ext cx="3493008" cy="2788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77656" y="2953512"/>
            <a:ext cx="621792" cy="621792"/>
          </a:xfrm>
          <a:prstGeom prst="roundRect">
            <a:avLst>
              <a:gd name="adj" fmla="val 12000"/>
            </a:avLst>
          </a:prstGeom>
          <a:solidFill>
            <a:srgbClr val="D89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42248" y="3072384"/>
            <a:ext cx="274320" cy="310896"/>
          </a:xfrm>
          <a:prstGeom prst="rect">
            <a:avLst/>
          </a:prstGeom>
          <a:noFill/>
        </p:spPr>
        <p:txBody>
          <a:bodyPr wrap="square" lIns="18288" tIns="18288" rIns="18288" bIns="18288">
            <a:spAutoFit/>
          </a:bodyPr>
          <a:lstStyle/>
          <a:p>
            <a:pPr algn="ctr">
              <a:lnSpc>
                <a:spcPct val="110000"/>
              </a:lnSpc>
              <a:spcAft>
                <a:spcPts val="400"/>
              </a:spcAft>
              <a:defRPr sz="1800" b="1">
                <a:solidFill>
                  <a:srgbClr val="FFFFFF"/>
                </a:solidFill>
                <a:latin typeface="Aptos"/>
              </a:defRPr>
            </a:pPr>
            <a:r>
              <a:t>3</a:t>
            </a:r>
          </a:p>
        </p:txBody>
      </p:sp>
      <p:sp>
        <p:nvSpPr>
          <p:cNvPr id="23" name="TextBox 22"/>
          <p:cNvSpPr txBox="1"/>
          <p:nvPr/>
        </p:nvSpPr>
        <p:spPr>
          <a:xfrm>
            <a:off x="8695944" y="3794760"/>
            <a:ext cx="2999232" cy="393192"/>
          </a:xfrm>
          <a:prstGeom prst="rect">
            <a:avLst/>
          </a:prstGeom>
          <a:noFill/>
        </p:spPr>
        <p:txBody>
          <a:bodyPr wrap="square" lIns="18288" tIns="18288" rIns="18288" bIns="18288">
            <a:spAutoFit/>
          </a:bodyPr>
          <a:lstStyle/>
          <a:p>
            <a:pPr>
              <a:lnSpc>
                <a:spcPct val="110000"/>
              </a:lnSpc>
              <a:spcAft>
                <a:spcPts val="400"/>
              </a:spcAft>
              <a:defRPr sz="2200" b="1">
                <a:solidFill>
                  <a:srgbClr val="172B43"/>
                </a:solidFill>
                <a:latin typeface="Aptos"/>
              </a:defRPr>
            </a:pPr>
            <a:r>
              <a:t>Explore context</a:t>
            </a:r>
          </a:p>
        </p:txBody>
      </p:sp>
      <p:sp>
        <p:nvSpPr>
          <p:cNvPr id="24" name="TextBox 23"/>
          <p:cNvSpPr txBox="1"/>
          <p:nvPr/>
        </p:nvSpPr>
        <p:spPr>
          <a:xfrm>
            <a:off x="8695944" y="4315968"/>
            <a:ext cx="2971800" cy="777240"/>
          </a:xfrm>
          <a:prstGeom prst="rect">
            <a:avLst/>
          </a:prstGeom>
          <a:noFill/>
        </p:spPr>
        <p:txBody>
          <a:bodyPr wrap="square" lIns="18288" tIns="18288" rIns="18288" bIns="18288">
            <a:spAutoFit/>
          </a:bodyPr>
          <a:lstStyle/>
          <a:p>
            <a:pPr>
              <a:lnSpc>
                <a:spcPct val="110000"/>
              </a:lnSpc>
              <a:spcAft>
                <a:spcPts val="400"/>
              </a:spcAft>
              <a:defRPr sz="1600" b="0">
                <a:solidFill>
                  <a:srgbClr val="52677A"/>
                </a:solidFill>
                <a:latin typeface="Aptos"/>
              </a:defRPr>
            </a:pPr>
            <a:r>
              <a:t>Ask when, why, and how devices are used.</a:t>
            </a:r>
          </a:p>
        </p:txBody>
      </p:sp>
      <p:sp>
        <p:nvSpPr>
          <p:cNvPr id="25" name="TextBox 24"/>
          <p:cNvSpPr txBox="1"/>
          <p:nvPr/>
        </p:nvSpPr>
        <p:spPr>
          <a:xfrm>
            <a:off x="822960" y="5843016"/>
            <a:ext cx="10607040" cy="438912"/>
          </a:xfrm>
          <a:prstGeom prst="rect">
            <a:avLst/>
          </a:prstGeom>
          <a:noFill/>
        </p:spPr>
        <p:txBody>
          <a:bodyPr wrap="square" lIns="18288" tIns="18288" rIns="18288" bIns="18288">
            <a:spAutoFit/>
          </a:bodyPr>
          <a:lstStyle/>
          <a:p>
            <a:pPr>
              <a:lnSpc>
                <a:spcPct val="110000"/>
              </a:lnSpc>
              <a:spcAft>
                <a:spcPts val="400"/>
              </a:spcAft>
              <a:defRPr sz="1400" b="0">
                <a:solidFill>
                  <a:srgbClr val="52677A"/>
                </a:solidFill>
                <a:latin typeface="Aptos"/>
              </a:defRPr>
            </a:pPr>
            <a:r>
              <a:t>Limitations: one dataset, study-defined groups, and unclear relationships between some usage measures.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685800"/>
            <a:ext cx="10058400" cy="411480"/>
          </a:xfrm>
          <a:prstGeom prst="rect">
            <a:avLst/>
          </a:prstGeom>
          <a:noFill/>
        </p:spPr>
        <p:txBody>
          <a:bodyPr wrap="square" lIns="18288" tIns="18288" rIns="18288" bIns="18288">
            <a:spAutoFit/>
          </a:bodyPr>
          <a:lstStyle/>
          <a:p>
            <a:pPr>
              <a:lnSpc>
                <a:spcPct val="110000"/>
              </a:lnSpc>
              <a:spcAft>
                <a:spcPts val="400"/>
              </a:spcAft>
              <a:defRPr sz="1600" b="1">
                <a:solidFill>
                  <a:srgbClr val="A8D9DF"/>
                </a:solidFill>
                <a:latin typeface="Aptos"/>
              </a:defRPr>
            </a:pPr>
            <a:r>
              <a:t>THE TAKEAWAY</a:t>
            </a:r>
          </a:p>
        </p:txBody>
      </p:sp>
      <p:sp>
        <p:nvSpPr>
          <p:cNvPr id="5" name="TextBox 4"/>
          <p:cNvSpPr txBox="1"/>
          <p:nvPr/>
        </p:nvSpPr>
        <p:spPr>
          <a:xfrm>
            <a:off x="868680" y="1554480"/>
            <a:ext cx="10607040" cy="2194560"/>
          </a:xfrm>
          <a:prstGeom prst="rect">
            <a:avLst/>
          </a:prstGeom>
          <a:noFill/>
        </p:spPr>
        <p:txBody>
          <a:bodyPr wrap="square" lIns="18288" tIns="18288" rIns="18288" bIns="18288">
            <a:spAutoFit/>
          </a:bodyPr>
          <a:lstStyle/>
          <a:p>
            <a:pPr>
              <a:lnSpc>
                <a:spcPct val="110000"/>
              </a:lnSpc>
              <a:spcAft>
                <a:spcPts val="400"/>
              </a:spcAft>
              <a:defRPr sz="4300" b="1">
                <a:solidFill>
                  <a:srgbClr val="FFFFFF"/>
                </a:solidFill>
                <a:latin typeface="Aptos"/>
              </a:defRPr>
            </a:pPr>
            <a:r>
              <a:t>A teenager’s habits</a:t>
            </a:r>
          </a:p>
          <a:p>
            <a:pPr>
              <a:lnSpc>
                <a:spcPct val="110000"/>
              </a:lnSpc>
              <a:spcAft>
                <a:spcPts val="400"/>
              </a:spcAft>
              <a:defRPr sz="4300" b="1">
                <a:solidFill>
                  <a:srgbClr val="FFFFFF"/>
                </a:solidFill>
                <a:latin typeface="Aptos"/>
              </a:defRPr>
            </a:pPr>
            <a:r>
              <a:t>don’t tell the whole story.</a:t>
            </a:r>
          </a:p>
        </p:txBody>
      </p:sp>
      <p:sp>
        <p:nvSpPr>
          <p:cNvPr id="6" name="Rectangle 5"/>
          <p:cNvSpPr/>
          <p:nvPr/>
        </p:nvSpPr>
        <p:spPr>
          <a:xfrm>
            <a:off x="877824" y="4315968"/>
            <a:ext cx="9966960" cy="45720"/>
          </a:xfrm>
          <a:prstGeom prst="rect">
            <a:avLst/>
          </a:prstGeom>
          <a:solidFill>
            <a:srgbClr val="3C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4690872"/>
            <a:ext cx="9966960" cy="1005840"/>
          </a:xfrm>
          <a:prstGeom prst="rect">
            <a:avLst/>
          </a:prstGeom>
          <a:noFill/>
        </p:spPr>
        <p:txBody>
          <a:bodyPr wrap="square" lIns="18288" tIns="18288" rIns="18288" bIns="18288">
            <a:spAutoFit/>
          </a:bodyPr>
          <a:lstStyle/>
          <a:p>
            <a:pPr>
              <a:lnSpc>
                <a:spcPct val="110000"/>
              </a:lnSpc>
              <a:spcAft>
                <a:spcPts val="400"/>
              </a:spcAft>
              <a:defRPr sz="2300" b="0">
                <a:solidFill>
                  <a:srgbClr val="DFEDF1"/>
                </a:solidFill>
                <a:latin typeface="Aptos"/>
              </a:defRPr>
            </a:pPr>
            <a:r>
              <a:t>In this dataset, everyday characteristics could not reliably distinguish low, moderate, and high smartphone use.</a:t>
            </a:r>
          </a:p>
        </p:txBody>
      </p:sp>
      <p:sp>
        <p:nvSpPr>
          <p:cNvPr id="8" name="TextBox 7"/>
          <p:cNvSpPr txBox="1"/>
          <p:nvPr/>
        </p:nvSpPr>
        <p:spPr>
          <a:xfrm>
            <a:off x="877824" y="6245352"/>
            <a:ext cx="5486400" cy="320040"/>
          </a:xfrm>
          <a:prstGeom prst="rect">
            <a:avLst/>
          </a:prstGeom>
          <a:noFill/>
        </p:spPr>
        <p:txBody>
          <a:bodyPr wrap="square" lIns="18288" tIns="18288" rIns="18288" bIns="18288">
            <a:spAutoFit/>
          </a:bodyPr>
          <a:lstStyle/>
          <a:p>
            <a:pPr>
              <a:lnSpc>
                <a:spcPct val="110000"/>
              </a:lnSpc>
              <a:spcAft>
                <a:spcPts val="400"/>
              </a:spcAft>
              <a:defRPr sz="1500" b="0">
                <a:solidFill>
                  <a:srgbClr val="B9CCD7"/>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3193</TotalTime>
  <Words>1155</Words>
  <Application>Microsoft Office PowerPoint</Application>
  <PresentationFormat>Widescreen</PresentationFormat>
  <Paragraphs>95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Logan Martin</dc:creator>
  <cp:keywords/>
  <dc:description>generated using python-pptx</dc:description>
  <cp:lastModifiedBy>Logan Martin</cp:lastModifiedBy>
  <cp:revision>2</cp:revision>
  <dcterms:created xsi:type="dcterms:W3CDTF">2013-01-27T09:14:16Z</dcterms:created>
  <dcterms:modified xsi:type="dcterms:W3CDTF">2026-10-19T01:22:36Z</dcterms:modified>
  <cp:category/>
</cp:coreProperties>
</file>